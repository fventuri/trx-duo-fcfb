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  <Relationship Id="rId16" Type="http://schemas.openxmlformats.org/officeDocument/2006/relationships/slide" Target="slides/slide10.xml"/>
  <Relationship Id="rId17" Type="http://schemas.openxmlformats.org/officeDocument/2006/relationships/slide" Target="slides/slide11.xml"/>
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50" b="1" i="0">
                <a:solidFill>
                  <a:srgbClr val="0F172A"/>
                </a:solidFill>
                <a:latin typeface="Calibri"/>
              </a:rPr>
              <a:t>Loss-free int24 bins / datagram (40 000 pkt/s)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loss-free int24 bins / datagram</c:v>
                </c:pt>
              </c:strCache>
            </c:strRef>
          </c:tx>
          <c:dPt>
            <c:idx val="0"/>
            <c:spPr>
              <a:solidFill>
                <a:srgbClr val="64748B"/>
              </a:solidFill>
            </c:spPr>
          </c:dPt>
          <c:dPt>
            <c:idx val="1"/>
            <c:spPr>
              <a:solidFill>
                <a:srgbClr val="1D4ED8"/>
              </a:solidFill>
            </c:spPr>
          </c:dPt>
          <c:dPt>
            <c:idx val="2"/>
            <c:spPr>
              <a:solidFill>
                <a:srgbClr val="15803D"/>
              </a:solidFill>
            </c:spPr>
          </c:dPt>
          <c:cat>
            <c:strRef>
              <c:f>Sheet1!$A$2:$A$4</c:f>
              <c:strCache>
                <c:ptCount val="3"/>
                <c:pt idx="0">
                  <c:v>Stock
MTU 1500</c:v>
                </c:pt>
                <c:pt idx="1">
                  <c:v>Jumbo 3980
+ sendmmsg</c:v>
                </c:pt>
                <c:pt idx="2">
                  <c:v>Jumbo 3980
+ zero-copy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242</c:v>
                </c:pt>
                <c:pt idx="1">
                  <c:v>327</c:v>
                </c:pt>
                <c:pt idx="2">
                  <c:v>500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200" b="1">
                  <a:solidFill>
                    <a:srgbClr val="0F172A"/>
                  </a:solidFill>
                  <a:latin typeface="Calibr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8E0EA"/>
            </a:solidFill>
          </a:ln>
        </c:spPr>
        <c:txPr>
          <a:bodyPr/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image" Target="../media/image1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F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234440"/>
            <a:ext cx="1005840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5600" b="1" i="0">
                <a:solidFill>
                  <a:srgbClr val="FFFFFF"/>
                </a:solidFill>
                <a:latin typeface="Calibri"/>
              </a:rPr>
              <a:t>fcfb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395728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300" b="0" i="0">
                <a:solidFill>
                  <a:srgbClr val="CADCFC"/>
                </a:solidFill>
                <a:latin typeface="Calibri"/>
              </a:rPr>
              <a:t>A split fast-convolution filter bank for the TRX-duo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1546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9FB7D9"/>
                </a:solidFill>
                <a:latin typeface="Calibri"/>
              </a:rPr>
              <a:t>Wideband analysis on a Zynq-7010 FPGA  ·  channel synthesis on the host PC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977639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8C9CB0"/>
                </a:solidFill>
                <a:latin typeface="Calibri"/>
              </a:rPr>
              <a:t>Franco Venturi, K4VZ  ·  October 2026</a:t>
            </a:r>
          </a:p>
        </p:txBody>
      </p:sp>
      <p:pic>
        <p:nvPicPr>
          <p:cNvPr id="6" name="Picture 5" descr="moti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247" y="5440680"/>
            <a:ext cx="11887200" cy="13716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  <a:latin typeface="Calibri"/>
              </a:rPr>
              <a:t>What fcfb is — and why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70432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0" i="0">
                <a:solidFill>
                  <a:srgbClr val="475569"/>
                </a:solidFill>
                <a:latin typeface="Calibri"/>
              </a:rPr>
              <a:t>One wideband analysis filter bank runs on the board; the host reconstructs individual receivers from it. The expensive full-rate DSP happens once, in the FPGA; the flexible per-channel work runs on a commodity PC.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2331720"/>
            <a:ext cx="2697480" cy="3337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22960" y="2606039"/>
            <a:ext cx="713232" cy="713232"/>
          </a:xfrm>
          <a:prstGeom prst="roundRect">
            <a:avLst>
              <a:gd name="adj" fmla="val 22000"/>
            </a:avLst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c_layers_1d4ed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8547" y="2691627"/>
            <a:ext cx="542056" cy="54205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3520439"/>
            <a:ext cx="2185416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0F172A"/>
                </a:solidFill>
                <a:latin typeface="Calibri"/>
              </a:rPr>
              <a:t>One capture, many receivers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206240"/>
            <a:ext cx="222199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 i="0">
                <a:solidFill>
                  <a:srgbClr val="475569"/>
                </a:solidFill>
                <a:latin typeface="Calibri"/>
              </a:rPr>
              <a:t>A single wideband bank on the board; the host pulls as many channels as the link budget allows.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19856" y="2331720"/>
            <a:ext cx="2697480" cy="3337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675888" y="2606039"/>
            <a:ext cx="713232" cy="713232"/>
          </a:xfrm>
          <a:prstGeom prst="roundRect">
            <a:avLst>
              <a:gd name="adj" fmla="val 22000"/>
            </a:avLst>
          </a:prstGeom>
          <a:solidFill>
            <a:srgbClr val="F0F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ic_sliders_15803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61475" y="2691627"/>
            <a:ext cx="542056" cy="54205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675888" y="3520439"/>
            <a:ext cx="2185416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0F172A"/>
                </a:solidFill>
                <a:latin typeface="Calibri"/>
              </a:rPr>
              <a:t>Channels defined on the host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75888" y="4206240"/>
            <a:ext cx="222199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 i="0">
                <a:solidFill>
                  <a:srgbClr val="475569"/>
                </a:solidFill>
                <a:latin typeface="Calibri"/>
              </a:rPr>
              <a:t>Centre frequency, bandwidth, Kaiser filters and demodulation — all chosen at runtime.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72784" y="2331720"/>
            <a:ext cx="2697480" cy="3337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528816" y="2606039"/>
            <a:ext cx="713232" cy="713232"/>
          </a:xfrm>
          <a:prstGeom prst="roundRect">
            <a:avLst>
              <a:gd name="adj" fmla="val 22000"/>
            </a:avLst>
          </a:prstGeom>
          <a:solidFill>
            <a:srgbClr val="F5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ic_code_33415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4403" y="2691627"/>
            <a:ext cx="542056" cy="54205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528816" y="3520439"/>
            <a:ext cx="2185416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0F172A"/>
                </a:solidFill>
                <a:latin typeface="Calibri"/>
              </a:rPr>
              <a:t>Flexibility in software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28816" y="4206240"/>
            <a:ext cx="222199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 i="0">
                <a:solidFill>
                  <a:srgbClr val="475569"/>
                </a:solidFill>
                <a:latin typeface="Calibri"/>
              </a:rPr>
              <a:t>New modes and receivers are host code, not an FPGA gateware rebuild.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25711" y="2331720"/>
            <a:ext cx="2697480" cy="3337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381743" y="2606039"/>
            <a:ext cx="713232" cy="713232"/>
          </a:xfrm>
          <a:prstGeom prst="roundRect">
            <a:avLst>
              <a:gd name="adj" fmla="val 22000"/>
            </a:avLst>
          </a:prstGeom>
          <a:solidFill>
            <a:srgbClr val="FDF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ic_dollar_b4530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67331" y="2691627"/>
            <a:ext cx="542056" cy="542056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381743" y="3520439"/>
            <a:ext cx="2185416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0F172A"/>
                </a:solidFill>
                <a:latin typeface="Calibri"/>
              </a:rPr>
              <a:t>Modest hardware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81743" y="4206240"/>
            <a:ext cx="222199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 i="0">
                <a:solidFill>
                  <a:srgbClr val="475569"/>
                </a:solidFill>
                <a:latin typeface="Calibri"/>
              </a:rPr>
              <a:t>An inexpensive Zynq-7010 board paired with an ordinary host PC.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6437376"/>
            <a:ext cx="86868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fcfb — split fast-convolution filter bank for the TRX-duo  ·  Franco Venturi, K4VZ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0" y="6437376"/>
            <a:ext cx="667512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4748B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  <a:latin typeface="Calibri"/>
              </a:rPr>
              <a:t>Two systems: board + host</a:t>
            </a:r>
          </a:p>
        </p:txBody>
      </p:sp>
      <p:pic>
        <p:nvPicPr>
          <p:cNvPr id="3" name="Picture 2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1442" y="1188720"/>
            <a:ext cx="10815211" cy="49834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66928" y="6437376"/>
            <a:ext cx="86868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fcfb — split fast-convolution filter bank for the TRX-duo  ·  Franco Venturi, K4VZ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37376"/>
            <a:ext cx="667512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4748B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  <a:latin typeface="Calibri"/>
              </a:rPr>
              <a:t>The analysis engine: overlap-save + WOLA</a:t>
            </a:r>
          </a:p>
        </p:txBody>
      </p:sp>
      <p:pic>
        <p:nvPicPr>
          <p:cNvPr id="3" name="Picture 2" descr="wo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03517"/>
            <a:ext cx="11338560" cy="459960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66928" y="6437376"/>
            <a:ext cx="86868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fcfb — split fast-convolution filter bank for the TRX-duo  ·  Franco Venturi, K4VZ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37376"/>
            <a:ext cx="667512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4748B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  <a:latin typeface="Calibri"/>
              </a:rPr>
              <a:t>Ship only the bins the host needs</a:t>
            </a:r>
          </a:p>
        </p:txBody>
      </p:sp>
      <p:pic>
        <p:nvPicPr>
          <p:cNvPr id="3" name="Picture 2" descr="binsel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93232"/>
            <a:ext cx="11155680" cy="442017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66928" y="6437376"/>
            <a:ext cx="86868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fcfb — split fast-convolution filter bank for the TRX-duo  ·  Franco Venturi, K4VZ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37376"/>
            <a:ext cx="667512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4748B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  <a:latin typeface="Calibri"/>
              </a:rPr>
              <a:t>Constraints we had to overcome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66928" y="1417320"/>
            <a:ext cx="3538728" cy="4480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68680" y="1764792"/>
            <a:ext cx="768096" cy="768096"/>
          </a:xfrm>
          <a:prstGeom prst="roundRect">
            <a:avLst>
              <a:gd name="adj" fmla="val 22000"/>
            </a:avLst>
          </a:prstGeom>
          <a:solidFill>
            <a:srgbClr val="F5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c_network_33415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851" y="1856963"/>
            <a:ext cx="583752" cy="5837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68680" y="2743200"/>
            <a:ext cx="293522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0F172A"/>
                </a:solidFill>
                <a:latin typeface="Calibri"/>
              </a:rPr>
              <a:t>1 GbE throughput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429000"/>
            <a:ext cx="297180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 i="0">
                <a:solidFill>
                  <a:srgbClr val="475569"/>
                </a:solidFill>
                <a:latin typeface="Calibri"/>
              </a:rPr>
              <a:t>The link cannot carry the full-rate dual-ADC spectrum. The real wall is per-datagram packet rate, not line rate: at a 1500-byte MTU a record must fit one unfragmented datagram (≤ 242 int24 bins) — fragment it and loss sets in.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88536" y="1417320"/>
            <a:ext cx="3538728" cy="4480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590288" y="1764792"/>
            <a:ext cx="768096" cy="768096"/>
          </a:xfrm>
          <a:prstGeom prst="roundRect">
            <a:avLst>
              <a:gd name="adj" fmla="val 22000"/>
            </a:avLst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ic_cpu_1d4ed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82459" y="1856963"/>
            <a:ext cx="583752" cy="58375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90288" y="2743200"/>
            <a:ext cx="293522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0F172A"/>
                </a:solidFill>
                <a:latin typeface="Calibri"/>
              </a:rPr>
              <a:t>Zynq-7010 resources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90288" y="3429000"/>
            <a:ext cx="297180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 i="0">
                <a:solidFill>
                  <a:srgbClr val="475569"/>
                </a:solidFill>
                <a:latin typeface="Calibri"/>
              </a:rPr>
              <a:t>A small, inexpensive part. The WOLA prefilter is folded to its storage floor (NB = T+1) — the largest analysis bank that fits the 7010's block RAM.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10144" y="1417320"/>
            <a:ext cx="3538728" cy="4480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311896" y="1764792"/>
            <a:ext cx="768096" cy="768096"/>
          </a:xfrm>
          <a:prstGeom prst="roundRect">
            <a:avLst>
              <a:gd name="adj" fmla="val 22000"/>
            </a:avLst>
          </a:prstGeom>
          <a:solidFill>
            <a:srgbClr val="FDF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ic_clock_b4530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04067" y="1856963"/>
            <a:ext cx="583752" cy="58375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311896" y="2743200"/>
            <a:ext cx="293522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0F172A"/>
                </a:solidFill>
                <a:latin typeface="Calibri"/>
              </a:rPr>
              <a:t>Clock constraints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11896" y="3429000"/>
            <a:ext cx="297180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 i="0">
                <a:solidFill>
                  <a:srgbClr val="475569"/>
                </a:solidFill>
                <a:latin typeface="Calibri"/>
              </a:rPr>
              <a:t>The analysis FFT runs at the full 125 Msps ADC rate: a 125 MHz datapath with 2× and 3× clock domains driving the complex-multiply FFT in step.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6437376"/>
            <a:ext cx="86868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fcfb — split fast-convolution filter bank for the TRX-duo  ·  Franco Venturi, K4VZ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0" y="6437376"/>
            <a:ext cx="667512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4748B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  <a:latin typeface="Calibri"/>
              </a:rPr>
              <a:t>Network: jumbo frames + zero-copy UDP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66928" y="1325880"/>
          <a:ext cx="5486400" cy="26060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66928" y="4041648"/>
            <a:ext cx="5486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475569"/>
                </a:solidFill>
                <a:latin typeface="Calibri"/>
              </a:rPr>
              <a:t>Zero-copy moves the ceiling from the packet-rate wall to raw GbE line rate: W ≈ 500 bins on one ADC (~506 theoretical, wmax 512 just above) streams loss-free at ~99% of 1 GbE — ≈ 15.3 MHz. Both ADCs: 250 bins each.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120640"/>
            <a:ext cx="548640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>
                <a:solidFill>
                  <a:srgbClr val="0F172A"/>
                </a:solidFill>
                <a:latin typeface="Calibri"/>
              </a:rPr>
              <a:t>Why 24-bit bins:  </a:t>
            </a:r>
            <a:r>
              <a:rPr sz="1300" b="0" i="0">
                <a:solidFill>
                  <a:srgbClr val="475569"/>
                </a:solidFill>
                <a:latin typeface="Calibri"/>
              </a:rPr>
              <a:t>the wideband bank carries the whole band's dynamic range through one quantiser. 16-bit samples would hold the on-wire floor near −90 dBc and limit reconstruction; 24-bit keeps quantisation below the ~−102 dBc fixed-point ceiling — at 3 bytes per bin.</a:t>
            </a:r>
          </a:p>
        </p:txBody>
      </p:sp>
      <p:pic>
        <p:nvPicPr>
          <p:cNvPr id="6" name="Picture 5" descr="zcpat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56513" y="1234440"/>
            <a:ext cx="4837813" cy="41605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37960" y="5532120"/>
            <a:ext cx="51206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1" i="0">
                <a:solidFill>
                  <a:srgbClr val="0F172A"/>
                </a:solidFill>
                <a:latin typeface="Calibri"/>
              </a:rPr>
              <a:t>Jumbo + zero-copy:  </a:t>
            </a:r>
            <a:r>
              <a:rPr sz="1250" b="0" i="0">
                <a:solidFill>
                  <a:srgbClr val="475569"/>
                </a:solidFill>
                <a:latin typeface="Calibri"/>
              </a:rPr>
              <a:t>the macb driver ships with jumbo disabled; a kernel patch enables MTU 3980. A second patch DMAs each datagram straight from the ring — no copy, no get_user_pages — breaking the ~30k packets/s wall so the fixed 40k/s sustains at line rate (~119 MB/s).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437376"/>
            <a:ext cx="86868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fcfb — split fast-convolution filter bank for the TRX-duo  ·  Franco Venturi, K4VZ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37376"/>
            <a:ext cx="667512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4748B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  <a:latin typeface="Calibri"/>
              </a:rPr>
              <a:t>The host applications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66928" y="1371600"/>
            <a:ext cx="3538728" cy="397763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68680" y="1700784"/>
            <a:ext cx="768096" cy="768096"/>
          </a:xfrm>
          <a:prstGeom prst="roundRect">
            <a:avLst>
              <a:gd name="adj" fmla="val 22000"/>
            </a:avLst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c_grid_1d4ed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851" y="1792955"/>
            <a:ext cx="583752" cy="5837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792224" y="1755648"/>
            <a:ext cx="216712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0F172A"/>
                </a:solidFill>
                <a:latin typeface="Calibri"/>
              </a:rPr>
              <a:t>fcfbfarm</a:t>
            </a:r>
          </a:p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64748B"/>
                </a:solidFill>
                <a:latin typeface="Calibri"/>
              </a:rPr>
              <a:t>Decoder farm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788920"/>
            <a:ext cx="297180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300" b="0" i="0">
                <a:solidFill>
                  <a:srgbClr val="475569"/>
                </a:solidFill>
                <a:latin typeface="Calibri"/>
              </a:rPr>
              <a:t>Reconstructs many channels from the one board stream and runs jt9 (FT8/FT4) or wsprd (WSPR) on UTC-aligned windows — many receivers over a single stream session.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88536" y="1371600"/>
            <a:ext cx="3538728" cy="397763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590288" y="1700784"/>
            <a:ext cx="768096" cy="768096"/>
          </a:xfrm>
          <a:prstGeom prst="roundRect">
            <a:avLst>
              <a:gd name="adj" fmla="val 22000"/>
            </a:avLst>
          </a:prstGeom>
          <a:solidFill>
            <a:srgbClr val="F0F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ic_radio_15803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82459" y="1792955"/>
            <a:ext cx="583752" cy="58375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513832" y="1755648"/>
            <a:ext cx="216712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0F172A"/>
                </a:solidFill>
                <a:latin typeface="Calibri"/>
              </a:rPr>
              <a:t>fcfbhpsdr</a:t>
            </a:r>
          </a:p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64748B"/>
                </a:solidFill>
                <a:latin typeface="Calibri"/>
              </a:rPr>
              <a:t>openHPSDR Protocol-2 server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90288" y="2788920"/>
            <a:ext cx="297180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300" b="0" i="0">
                <a:solidFill>
                  <a:srgbClr val="475569"/>
                </a:solidFill>
                <a:latin typeface="Calibri"/>
              </a:rPr>
              <a:t>Presents the board to piHPSDR, Thetis or linhpsdr as one or more radios; the client picks each DDC's centre frequency, sample rate and ADC at runtime.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10144" y="1371600"/>
            <a:ext cx="3538728" cy="397763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311896" y="1700784"/>
            <a:ext cx="768096" cy="768096"/>
          </a:xfrm>
          <a:prstGeom prst="roundRect">
            <a:avLst>
              <a:gd name="adj" fmla="val 22000"/>
            </a:avLst>
          </a:prstGeom>
          <a:solidFill>
            <a:srgbClr val="FDF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ic_info_b4530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04067" y="1792955"/>
            <a:ext cx="583752" cy="58375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235440" y="1755648"/>
            <a:ext cx="216712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0F172A"/>
                </a:solidFill>
                <a:latin typeface="Calibri"/>
              </a:rPr>
              <a:t>fcfbinfo</a:t>
            </a:r>
          </a:p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64748B"/>
                </a:solidFill>
                <a:latin typeface="Calibri"/>
              </a:rPr>
              <a:t>Board telemetry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11896" y="2788920"/>
            <a:ext cx="297180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300" b="0" i="0">
                <a:solidFill>
                  <a:srgbClr val="475569"/>
                </a:solidFill>
                <a:latin typeface="Calibri"/>
              </a:rPr>
              <a:t>A one-shot query for die temperature, supply voltages, FPGA part and loaded gateware — answered on a separate port, safe to run mid-stream.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5623560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 i="1">
                <a:solidFill>
                  <a:srgbClr val="475569"/>
                </a:solidFill>
                <a:latin typeface="Calibri"/>
              </a:rPr>
              <a:t>One zero-dependency Go package → single static binaries for Linux, Windows and macOS; the synthesis kernel is embedded, so nothing else ships.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37376"/>
            <a:ext cx="86868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fcfb — split fast-convolution filter bank for the TRX-duo  ·  Franco Venturi, K4VZ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0" y="6437376"/>
            <a:ext cx="667512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4748B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  <a:latin typeface="Calibri"/>
              </a:rPr>
              <a:t>Diversity reception</a:t>
            </a:r>
          </a:p>
        </p:txBody>
      </p:sp>
      <p:pic>
        <p:nvPicPr>
          <p:cNvPr id="3" name="Picture 2" descr="divers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36039"/>
            <a:ext cx="11155680" cy="452541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66928" y="6437376"/>
            <a:ext cx="86868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fcfb — split fast-convolution filter bank for the TRX-duo  ·  Franco Venturi, K4VZ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37376"/>
            <a:ext cx="667512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4748B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  <a:latin typeface="Calibri"/>
              </a:rPr>
              <a:t>Common-mode cancellation</a:t>
            </a:r>
          </a:p>
        </p:txBody>
      </p:sp>
      <p:pic>
        <p:nvPicPr>
          <p:cNvPr id="3" name="Picture 2" descr="cm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36039"/>
            <a:ext cx="11155680" cy="452541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66928" y="6437376"/>
            <a:ext cx="86868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fcfb — split fast-convolution filter bank for the TRX-duo  ·  Franco Venturi, K4VZ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37376"/>
            <a:ext cx="667512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4748B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  <a:latin typeface="Calibri"/>
              </a:rPr>
              <a:t>Signal-excluded β — recovering weak signals</a:t>
            </a:r>
          </a:p>
        </p:txBody>
      </p:sp>
      <p:pic>
        <p:nvPicPr>
          <p:cNvPr id="3" name="Picture 2" descr="signal-excluded beta: problem, fix, validation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36039"/>
            <a:ext cx="11155680" cy="452541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66928" y="6437376"/>
            <a:ext cx="86868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fcfb — split fast-convolution filter bank for the TRX-duo  ·  Franco Venturi, K4VZ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37376"/>
            <a:ext cx="667512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4748B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